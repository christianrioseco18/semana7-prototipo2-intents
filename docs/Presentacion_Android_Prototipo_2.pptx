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40 segundos junto con la diapositiva 2. Presentar el prototipo y al equipo. Base: Semana7 del aula, actividad Prototipo 2 del PDF Prueba 15% Android. Completar integrantes si corresponde.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Explicar que la base tenía linterna y ubicación y que se ampliaron las acciones. No contar estas dos APIs como intents. Fuente: proyecto adjunto y Prueba 15% Android, páginas 2 y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35 segundos. Mostrar que todas las pantallas salen de MainActivity. Segunda Vista recibe nombre y ubicación con extras. Ajustes guarda SharedPreferences. Ayuda muestra instrucciones. El botón Volver ejecuta finish. Fuente: archivos MainActivity.java y Activities del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45 segundos. Definir implícito: acción y datos para que Android encuentre una aplicación compatible. El marcador no llama y el correo no envía automáticamente. GetContent crea ACTION_GET_CONTENT. Fuente: MainActivity.java; https://developer.android.com/guide/components/intents-filters y https://developer.android.com/training/basics/intents/result.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65 segundos. En vivo abrir Segunda Vista, mostrar un campo vacío en Ajustes, seleccionar una imagen y abrir mapa. Antes de entregar añadir capturas REALES de estos flujos. Esta diapositiva contiene un esquema, no capturas de ejecución. No afirmar que se probó una acción sin ejecutarla.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50 segundos junto con diapositiva 7. Explicar la clase de destino y extras. SegundaActivity usa getStringExtra. ACTION_DIAL usa la URI del número y abrirSeguro maneja errores. Fuente: MainActivity.java y SegundaActivity.java.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Explicar que el código está abreviado para mostrar la lógica. El proyecto usa un lanzador registrado como campo antes de onCreate. ExecutorService decodifica y Handler actualiza el ImageView en el hilo principal. Fuente: MainActivity.java y https://developer.android.com/training/basics/intents/result.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65 segundos junto con Threads. Mostrar errores de Ajustes. Explicar permiso rechazado, proveedor apagado, timeout y ausencia de apps. Mejoras: imágenes permanentes y pruebas de interfaz. Las pruebas de dispositivo siguen pendientes hasta ejecutarlas. Fuente: ConfigActivity.java, MainActivity.java; https://developer.android.com/develop/sensors-and-location/location/permissions/runtime.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9D538DB-748E-485E-9FD8-C941BEF3E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9ED9F314-0E13-4AE5-B846-AC4AF21051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7642B6EF-93A6-4D6D-9846-E90998974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0E57EBD-47EB-4942-866B-DEEFC38D5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F423B063-7C5C-461F-9044-A3CD19899C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1CDDD97B-5DA2-416E-A8A2-B58CB4077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0ECC8AF2-4647-4DBA-93A1-0D661ED0C1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61DA1660-F1F7-4F92-9881-20824B04B7A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DD2360D-5A57-4941-93C3-F194B3DBE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4B1FE7AF-1CDC-449D-AEF2-1338D4C542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03A75C51-0906-4A71-8C83-AEF7C6BAB73B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04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182A29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3300" b="1">
                <a:solidFill>
                  <a:srgbClr val="182A2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82A29"/>
                </a:solidFill>
                <a:latin typeface="DejaVu Sans"/>
                <a:ea typeface="DejaVu Sans"/>
                <a:cs typeface="DejaVu Sans"/>
              </a:rPr>
              <a:t>Intents y Funciones Android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FFAAA26-46E6-445B-BE50-BEF7277143D9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06360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350" b="0">
                <a:solidFill>
                  <a:srgbClr val="50636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0636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DF6C2F9-4B65-483D-99AA-40C7C1C6411C}"/>
              </a:ext>
            </a:extLst>
          </p:cNvPr>
          <p:cNvSpPr>
            <a:spLocks noGrp="1"/>
          </p:cNvSpPr>
          <p:nvPr/>
        </p:nvSpPr>
        <p:spPr>
          <a:xfrm>
            <a:off x="666750" y="2047875"/>
            <a:ext cx="10477500" cy="762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4350" b="1">
                <a:solidFill>
                  <a:srgbClr val="005E55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4350" b="1">
                <a:solidFill>
                  <a:srgbClr val="005E55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005E55"/>
                </a:solidFill>
                <a:latin typeface="DejaVu Sans"/>
                <a:ea typeface="DejaVu Sans"/>
                <a:cs typeface="DejaVu Sans"/>
              </a:rPr>
              <a:t>Prototipo 2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507E6AC-179E-4DE9-8CCA-BCBDF05E0F2C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1028700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0">
                <a:solidFill>
                  <a:srgbClr val="182A29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400" b="0">
                <a:solidFill>
                  <a:srgbClr val="182A2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82A29"/>
                </a:solidFill>
                <a:latin typeface="DejaVu Sans"/>
                <a:ea typeface="DejaVu Sans"/>
                <a:cs typeface="DejaVu Sans"/>
              </a:rPr>
              <a:t>Christian Rioseco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30ADA84-07D2-4FA9-975A-8D563384F6A1}"/>
              </a:ext>
            </a:extLst>
          </p:cNvPr>
          <p:cNvSpPr>
            <a:spLocks noGrp="1"/>
          </p:cNvSpPr>
          <p:nvPr/>
        </p:nvSpPr>
        <p:spPr>
          <a:xfrm>
            <a:off x="666750" y="4095750"/>
            <a:ext cx="10477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182A29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100" b="0">
                <a:solidFill>
                  <a:srgbClr val="182A29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2A29"/>
                </a:solidFill>
                <a:latin typeface="DejaVu Sans"/>
                <a:ea typeface="DejaVu Sans"/>
                <a:cs typeface="DejaVu Sans"/>
              </a:rPr>
              <a:t>Programación Android</a:t>
            </a:r>
          </a:p>
          <a:p>
            <a:pPr>
              <a:defRPr sz="2100" b="0">
                <a:solidFill>
                  <a:srgbClr val="182A29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2A29"/>
                </a:solidFill>
                <a:latin typeface="DejaVu Sans"/>
                <a:ea typeface="DejaVu Sans"/>
                <a:cs typeface="DejaVu Sans"/>
              </a:rPr>
              <a:t>Instituto Profesional Santo Tomás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CC8704E-2ECB-411F-898A-15918608C203}"/>
              </a:ext>
            </a:extLst>
          </p:cNvPr>
          <p:cNvSpPr>
            <a:spLocks noGrp="1"/>
          </p:cNvSpPr>
          <p:nvPr/>
        </p:nvSpPr>
        <p:spPr>
          <a:xfrm>
            <a:off x="666750" y="5600700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506360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725" b="0">
                <a:solidFill>
                  <a:srgbClr val="50636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06360"/>
                </a:solidFill>
                <a:latin typeface="DejaVu Sans"/>
                <a:ea typeface="DejaVu Sans"/>
                <a:cs typeface="DejaVu Sans"/>
              </a:rPr>
              <a:t>Java y XML · 9 de octubre de 2026</a:t>
            </a:r>
          </a:p>
        </p:txBody>
      </p:sp>
    </p:spTree>
    <p:extLst>
      <p:ext uri="{BB962C8B-B14F-4D97-AF65-F5344CB8AC3E}">
        <p14:creationId xmlns:p14="http://schemas.microsoft.com/office/powerpoint/2010/main" val="810432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755F2CB3-08AE-4698-BBD5-6B5B9A327162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04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182A29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3300" b="1">
                <a:solidFill>
                  <a:srgbClr val="182A2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82A29"/>
                </a:solidFill>
                <a:latin typeface="DejaVu Sans"/>
                <a:ea typeface="DejaVu Sans"/>
                <a:cs typeface="DejaVu Sans"/>
              </a:rPr>
              <a:t>Objetivo del prototipo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AA25CA8-41AA-4647-AA62-1CEE9FF7F771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06360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350" b="0">
                <a:solidFill>
                  <a:srgbClr val="50636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0636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29293B8-B845-4618-9C3A-0AD24704C630}"/>
              </a:ext>
            </a:extLst>
          </p:cNvPr>
          <p:cNvSpPr>
            <a:spLocks noGrp="1"/>
          </p:cNvSpPr>
          <p:nvPr/>
        </p:nvSpPr>
        <p:spPr>
          <a:xfrm>
            <a:off x="666750" y="1619250"/>
            <a:ext cx="10477500" cy="1333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775" b="0">
                <a:solidFill>
                  <a:srgbClr val="182A29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775" b="0">
                <a:solidFill>
                  <a:srgbClr val="182A29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182A29"/>
                </a:solidFill>
                <a:latin typeface="DejaVu Sans"/>
                <a:ea typeface="DejaVu Sans"/>
                <a:cs typeface="DejaVu Sans"/>
              </a:rPr>
              <a:t>Ampliar el ejemplo de Semana 7 con navegación interna y acciones en otras aplicaciones.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3A0008C-4D67-4AD0-8E22-516CDF23B639}"/>
              </a:ext>
            </a:extLst>
          </p:cNvPr>
          <p:cNvSpPr>
            <a:spLocks noGrp="1"/>
          </p:cNvSpPr>
          <p:nvPr/>
        </p:nvSpPr>
        <p:spPr>
          <a:xfrm>
            <a:off x="666750" y="3238500"/>
            <a:ext cx="102870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1">
                <a:solidFill>
                  <a:srgbClr val="005E55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250" b="1">
                <a:solidFill>
                  <a:srgbClr val="005E55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005E55"/>
                </a:solidFill>
                <a:latin typeface="DejaVu Sans"/>
                <a:ea typeface="DejaVu Sans"/>
                <a:cs typeface="DejaVu Sans"/>
              </a:rPr>
              <a:t>5 intents implícitos</a:t>
            </a:r>
          </a:p>
          <a:p>
            <a:pPr>
              <a:defRPr sz="2250" b="1">
                <a:solidFill>
                  <a:srgbClr val="005E55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005E55"/>
                </a:solidFill>
                <a:latin typeface="DejaVu Sans"/>
                <a:ea typeface="DejaVu Sans"/>
                <a:cs typeface="DejaVu Sans"/>
              </a:rPr>
              <a:t>Mapa, web, teléfono, correo y galería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C6F6231-DBD3-4109-BDC9-A5341639B6AF}"/>
              </a:ext>
            </a:extLst>
          </p:cNvPr>
          <p:cNvSpPr>
            <a:spLocks noGrp="1"/>
          </p:cNvSpPr>
          <p:nvPr/>
        </p:nvSpPr>
        <p:spPr>
          <a:xfrm>
            <a:off x="666750" y="4572000"/>
            <a:ext cx="102870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1">
                <a:solidFill>
                  <a:srgbClr val="005E55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250" b="1">
                <a:solidFill>
                  <a:srgbClr val="005E55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005E55"/>
                </a:solidFill>
                <a:latin typeface="DejaVu Sans"/>
                <a:ea typeface="DejaVu Sans"/>
                <a:cs typeface="DejaVu Sans"/>
              </a:rPr>
              <a:t>3 intents explícitos</a:t>
            </a:r>
          </a:p>
          <a:p>
            <a:pPr>
              <a:defRPr sz="2250" b="1">
                <a:solidFill>
                  <a:srgbClr val="005E55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005E55"/>
                </a:solidFill>
                <a:latin typeface="DejaVu Sans"/>
                <a:ea typeface="DejaVu Sans"/>
                <a:cs typeface="DejaVu Sans"/>
              </a:rPr>
              <a:t>Segunda Vista, Ajustes y Ayuda</a:t>
            </a:r>
          </a:p>
        </p:txBody>
      </p:sp>
    </p:spTree>
    <p:extLst>
      <p:ext uri="{BB962C8B-B14F-4D97-AF65-F5344CB8AC3E}">
        <p14:creationId xmlns:p14="http://schemas.microsoft.com/office/powerpoint/2010/main" val="444634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: angular 8">
            <a:extLst>
              <a:ext uri="{FF2B5EF4-FFF2-40B4-BE49-F238E27FC236}">
                <a16:creationId xmlns:a16="http://schemas.microsoft.com/office/drawing/2014/main" id="{888368C1-68C8-47D7-BD9F-BECE4F98F883}"/>
              </a:ext>
            </a:extLst>
          </p:cNvPr>
          <p:cNvCxnSpPr>
            <a:stCxn id="3" idx="2"/>
            <a:endCxn id="6" idx="0"/>
          </p:cNvCxnSpPr>
          <p:nvPr/>
        </p:nvCxnSpPr>
        <p:spPr>
          <a:xfrm>
            <a:off x="6096000" y="2667000"/>
            <a:ext cx="3810000" cy="11430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005E55"/>
            </a:solidFill>
            <a:tailEnd type="arrow" w="med" len="med"/>
          </a:ln>
        </p:spPr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30C596D6-79C9-4F52-A277-A07535547916}"/>
              </a:ext>
            </a:extLst>
          </p:cNvPr>
          <p:cNvCxnSpPr>
            <a:stCxn id="3" idx="2"/>
            <a:endCxn id="5" idx="0"/>
          </p:cNvCxnSpPr>
          <p:nvPr/>
        </p:nvCxnSpPr>
        <p:spPr>
          <a:xfrm>
            <a:off x="6096000" y="2667000"/>
            <a:ext cx="0" cy="1143000"/>
          </a:xfrm>
          <a:prstGeom prst="straightConnector1">
            <a:avLst/>
          </a:prstGeom>
          <a:ln w="19050">
            <a:solidFill>
              <a:srgbClr val="005E55"/>
            </a:solidFill>
            <a:tailEnd type="arrow" w="med" len="med"/>
          </a:ln>
        </p:spPr>
      </p:cxnSp>
      <p:cxnSp>
        <p:nvCxnSpPr>
          <p:cNvPr id="7" name="Conector: angular 6">
            <a:extLst>
              <a:ext uri="{FF2B5EF4-FFF2-40B4-BE49-F238E27FC236}">
                <a16:creationId xmlns:a16="http://schemas.microsoft.com/office/drawing/2014/main" id="{5E67F00E-EA20-4430-B0BB-ACDED358C98E}"/>
              </a:ext>
            </a:extLst>
          </p:cNvPr>
          <p:cNvCxnSpPr>
            <a:stCxn id="3" idx="2"/>
            <a:endCxn id="4" idx="0"/>
          </p:cNvCxnSpPr>
          <p:nvPr/>
        </p:nvCxnSpPr>
        <p:spPr>
          <a:xfrm flipH="1">
            <a:off x="2286000" y="2667000"/>
            <a:ext cx="3810000" cy="11430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005E55"/>
            </a:solidFill>
            <a:tailEnd type="arrow" w="med" len="med"/>
          </a:ln>
        </p:spPr>
      </p:cxn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DC71CC4-915B-4CC5-B1EC-7CF389164441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04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182A29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3300" b="1">
                <a:solidFill>
                  <a:srgbClr val="182A2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82A29"/>
                </a:solidFill>
                <a:latin typeface="DejaVu Sans"/>
                <a:ea typeface="DejaVu Sans"/>
                <a:cs typeface="DejaVu Sans"/>
              </a:rPr>
              <a:t>Mapa de navegación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D746046-B920-4757-BE39-7DCE1AA9B512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06360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350" b="0">
                <a:solidFill>
                  <a:srgbClr val="50636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0636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BFF7CD8-074A-4F6E-BD29-473C2254D039}"/>
              </a:ext>
            </a:extLst>
          </p:cNvPr>
          <p:cNvSpPr>
            <a:spLocks noGrp="1"/>
          </p:cNvSpPr>
          <p:nvPr/>
        </p:nvSpPr>
        <p:spPr>
          <a:xfrm>
            <a:off x="4667250" y="1619250"/>
            <a:ext cx="2857500" cy="1047750"/>
          </a:xfrm>
          <a:prstGeom prst="rect">
            <a:avLst/>
          </a:prstGeom>
          <a:solidFill>
            <a:srgbClr val="EDF5F2"/>
          </a:solidFill>
          <a:ln w="19050">
            <a:solidFill>
              <a:srgbClr val="005E55"/>
            </a:solidFill>
          </a:ln>
        </p:spPr>
        <p:txBody>
          <a:bodyPr/>
          <a:lstStyle>
            <a:defPPr>
              <a:defRPr sz="2025" b="1">
                <a:solidFill>
                  <a:srgbClr val="182A29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1">
                <a:solidFill>
                  <a:srgbClr val="182A29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82A29"/>
                </a:solidFill>
                <a:latin typeface="DejaVu Sans"/>
                <a:ea typeface="DejaVu Sans"/>
                <a:cs typeface="DejaVu Sans"/>
              </a:rPr>
              <a:t>MainActivity</a:t>
            </a:r>
          </a:p>
          <a:p>
            <a:pPr>
              <a:defRPr sz="2025" b="1">
                <a:solidFill>
                  <a:srgbClr val="182A29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82A29"/>
                </a:solidFill>
                <a:latin typeface="DejaVu Sans"/>
                <a:ea typeface="DejaVu Sans"/>
                <a:cs typeface="DejaVu Sans"/>
              </a:rPr>
              <a:t>Inicio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7767014-B085-4EC6-823C-A00ACFCF54A3}"/>
              </a:ext>
            </a:extLst>
          </p:cNvPr>
          <p:cNvSpPr>
            <a:spLocks noGrp="1"/>
          </p:cNvSpPr>
          <p:nvPr/>
        </p:nvSpPr>
        <p:spPr>
          <a:xfrm>
            <a:off x="666750" y="3810000"/>
            <a:ext cx="3238500" cy="1047750"/>
          </a:xfrm>
          <a:prstGeom prst="rect">
            <a:avLst/>
          </a:prstGeom>
          <a:solidFill>
            <a:srgbClr val="EDF5F2"/>
          </a:solidFill>
          <a:ln w="19050">
            <a:solidFill>
              <a:srgbClr val="005E55"/>
            </a:solidFill>
          </a:ln>
        </p:spPr>
        <p:txBody>
          <a:bodyPr/>
          <a:lstStyle>
            <a:defPPr>
              <a:defRPr sz="2025" b="1">
                <a:solidFill>
                  <a:srgbClr val="182A29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1">
                <a:solidFill>
                  <a:srgbClr val="182A29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82A29"/>
                </a:solidFill>
                <a:latin typeface="DejaVu Sans"/>
                <a:ea typeface="DejaVu Sans"/>
                <a:cs typeface="DejaVu Sans"/>
              </a:rPr>
              <a:t>SegundaActivity</a:t>
            </a:r>
          </a:p>
          <a:p>
            <a:pPr>
              <a:defRPr sz="2025" b="1">
                <a:solidFill>
                  <a:srgbClr val="182A29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82A29"/>
                </a:solidFill>
                <a:latin typeface="DejaVu Sans"/>
                <a:ea typeface="DejaVu Sans"/>
                <a:cs typeface="DejaVu Sans"/>
              </a:rPr>
              <a:t>Detalle con extras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0202F0C-5253-4E12-B18F-E698FC460FBD}"/>
              </a:ext>
            </a:extLst>
          </p:cNvPr>
          <p:cNvSpPr>
            <a:spLocks noGrp="1"/>
          </p:cNvSpPr>
          <p:nvPr/>
        </p:nvSpPr>
        <p:spPr>
          <a:xfrm>
            <a:off x="4476750" y="3810000"/>
            <a:ext cx="3238500" cy="1047750"/>
          </a:xfrm>
          <a:prstGeom prst="rect">
            <a:avLst/>
          </a:prstGeom>
          <a:solidFill>
            <a:srgbClr val="EDF5F2"/>
          </a:solidFill>
          <a:ln w="19050">
            <a:solidFill>
              <a:srgbClr val="005E55"/>
            </a:solidFill>
          </a:ln>
        </p:spPr>
        <p:txBody>
          <a:bodyPr/>
          <a:lstStyle>
            <a:defPPr>
              <a:defRPr sz="2025" b="1">
                <a:solidFill>
                  <a:srgbClr val="182A29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1">
                <a:solidFill>
                  <a:srgbClr val="182A29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82A29"/>
                </a:solidFill>
                <a:latin typeface="DejaVu Sans"/>
                <a:ea typeface="DejaVu Sans"/>
                <a:cs typeface="DejaVu Sans"/>
              </a:rPr>
              <a:t>ConfigActivity</a:t>
            </a:r>
          </a:p>
          <a:p>
            <a:pPr>
              <a:defRPr sz="2025" b="1">
                <a:solidFill>
                  <a:srgbClr val="182A29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82A29"/>
                </a:solidFill>
                <a:latin typeface="DejaVu Sans"/>
                <a:ea typeface="DejaVu Sans"/>
                <a:cs typeface="DejaVu Sans"/>
              </a:rPr>
              <a:t>Ajustes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100BFB4-CD3C-4211-8FD1-68284ECB4E9F}"/>
              </a:ext>
            </a:extLst>
          </p:cNvPr>
          <p:cNvSpPr>
            <a:spLocks noGrp="1"/>
          </p:cNvSpPr>
          <p:nvPr/>
        </p:nvSpPr>
        <p:spPr>
          <a:xfrm>
            <a:off x="8286750" y="3810000"/>
            <a:ext cx="3238500" cy="1047750"/>
          </a:xfrm>
          <a:prstGeom prst="rect">
            <a:avLst/>
          </a:prstGeom>
          <a:solidFill>
            <a:srgbClr val="EDF5F2"/>
          </a:solidFill>
          <a:ln w="19050">
            <a:solidFill>
              <a:srgbClr val="005E55"/>
            </a:solidFill>
          </a:ln>
        </p:spPr>
        <p:txBody>
          <a:bodyPr/>
          <a:lstStyle>
            <a:defPPr>
              <a:defRPr sz="2025" b="1">
                <a:solidFill>
                  <a:srgbClr val="182A29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1">
                <a:solidFill>
                  <a:srgbClr val="182A29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82A29"/>
                </a:solidFill>
                <a:latin typeface="DejaVu Sans"/>
                <a:ea typeface="DejaVu Sans"/>
                <a:cs typeface="DejaVu Sans"/>
              </a:rPr>
              <a:t>AyudaActivity</a:t>
            </a:r>
          </a:p>
          <a:p>
            <a:pPr>
              <a:defRPr sz="2025" b="1">
                <a:solidFill>
                  <a:srgbClr val="182A29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82A29"/>
                </a:solidFill>
                <a:latin typeface="DejaVu Sans"/>
                <a:ea typeface="DejaVu Sans"/>
                <a:cs typeface="DejaVu Sans"/>
              </a:rPr>
              <a:t>Guía de uso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8117E89-7FAD-4B40-89B4-7F5BA60538BC}"/>
              </a:ext>
            </a:extLst>
          </p:cNvPr>
          <p:cNvSpPr>
            <a:spLocks noGrp="1"/>
          </p:cNvSpPr>
          <p:nvPr/>
        </p:nvSpPr>
        <p:spPr>
          <a:xfrm>
            <a:off x="666750" y="5476875"/>
            <a:ext cx="1076325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506360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0">
                <a:solidFill>
                  <a:srgbClr val="506360"/>
                </a:solidFill>
                <a:latin typeface="DejaVu Sans"/>
                <a:ea typeface="DejaVu Sans"/>
                <a:cs typeface="DejaVu Sans"/>
              </a:defRPr>
            </a:pPr>
            <a:endParaRPr sz="2025" b="0" dirty="0">
              <a:solidFill>
                <a:srgbClr val="506360"/>
              </a:solidFill>
              <a:latin typeface="DejaVu Sans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272021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EF2F2706-6CAB-4504-BD9B-5C59CAA9F916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04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182A29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3300" b="1">
                <a:solidFill>
                  <a:srgbClr val="182A2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82A29"/>
                </a:solidFill>
                <a:latin typeface="DejaVu Sans"/>
                <a:ea typeface="DejaVu Sans"/>
                <a:cs typeface="DejaVu Sans"/>
              </a:rPr>
              <a:t>Los cinco intents implícitos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D33C896-6C6E-4676-886C-2580A9239AAE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06360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350" b="0">
                <a:solidFill>
                  <a:srgbClr val="50636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06360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A9697698-BB3B-41EB-889E-8481C42BFFA6}"/>
              </a:ext>
            </a:extLst>
          </p:cNvPr>
          <p:cNvGraphicFramePr/>
          <p:nvPr/>
        </p:nvGraphicFramePr>
        <p:xfrm>
          <a:off x="666750" y="1666875"/>
          <a:ext cx="10858500" cy="3714750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Acción</a:t>
                      </a:r>
                    </a:p>
                  </a:txBody>
                  <a:tcPr>
                    <a:solidFill>
                      <a:srgbClr val="005E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Intent</a:t>
                      </a:r>
                    </a:p>
                  </a:txBody>
                  <a:tcPr>
                    <a:solidFill>
                      <a:srgbClr val="005E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Datos</a:t>
                      </a:r>
                    </a:p>
                  </a:txBody>
                  <a:tcPr>
                    <a:solidFill>
                      <a:srgbClr val="005E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A2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A2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ACTION_VIEW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A2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geo: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A2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Página web</a:t>
                      </a:r>
                    </a:p>
                  </a:txBody>
                  <a:tcPr>
                    <a:solidFill>
                      <a:srgbClr val="ED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A2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ACTION_VIEW</a:t>
                      </a:r>
                    </a:p>
                  </a:txBody>
                  <a:tcPr>
                    <a:solidFill>
                      <a:srgbClr val="ED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A2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https:</a:t>
                      </a:r>
                    </a:p>
                  </a:txBody>
                  <a:tcPr>
                    <a:solidFill>
                      <a:srgbClr val="ED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A2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Marcador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A2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ACTION_DIAL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A2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tel: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A2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Correo</a:t>
                      </a:r>
                    </a:p>
                  </a:txBody>
                  <a:tcPr>
                    <a:solidFill>
                      <a:srgbClr val="ED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A2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ACTION_SENDTO</a:t>
                      </a:r>
                    </a:p>
                  </a:txBody>
                  <a:tcPr>
                    <a:solidFill>
                      <a:srgbClr val="ED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A2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mailto:</a:t>
                      </a:r>
                    </a:p>
                  </a:txBody>
                  <a:tcPr>
                    <a:solidFill>
                      <a:srgbClr val="ED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A2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Galería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A2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GetContent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A2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image/*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ctángulo 3">
            <a:extLst>
              <a:ext uri="{FF2B5EF4-FFF2-40B4-BE49-F238E27FC236}">
                <a16:creationId xmlns:a16="http://schemas.microsoft.com/office/drawing/2014/main" id="{365F872D-7CAD-4B1F-A1B4-96C06439F2E7}"/>
              </a:ext>
            </a:extLst>
          </p:cNvPr>
          <p:cNvSpPr>
            <a:spLocks noGrp="1"/>
          </p:cNvSpPr>
          <p:nvPr/>
        </p:nvSpPr>
        <p:spPr>
          <a:xfrm>
            <a:off x="666750" y="5619750"/>
            <a:ext cx="1076325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506360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875" b="0">
                <a:solidFill>
                  <a:srgbClr val="506360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06360"/>
                </a:solidFill>
                <a:latin typeface="DejaVu Sans"/>
                <a:ea typeface="DejaVu Sans"/>
                <a:cs typeface="DejaVu Sans"/>
              </a:rPr>
              <a:t>Android elige el componente capaz de realizar la acción.</a:t>
            </a:r>
          </a:p>
        </p:txBody>
      </p:sp>
    </p:spTree>
    <p:extLst>
      <p:ext uri="{BB962C8B-B14F-4D97-AF65-F5344CB8AC3E}">
        <p14:creationId xmlns:p14="http://schemas.microsoft.com/office/powerpoint/2010/main" val="557891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24C275A6-B54E-4DD4-A4D5-8C3876E8D8CE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04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182A29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3300" b="1">
                <a:solidFill>
                  <a:srgbClr val="182A2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82A29"/>
                </a:solidFill>
                <a:latin typeface="DejaVu Sans"/>
                <a:ea typeface="DejaVu Sans"/>
                <a:cs typeface="DejaVu Sans"/>
              </a:rPr>
              <a:t>Demostración de los flujos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3A72936-72BC-411E-8863-EC76A8D79CD9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06360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350" b="0">
                <a:solidFill>
                  <a:srgbClr val="50636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06360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3E90969-C9E7-4552-8976-D72F8B02E384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504825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1">
                <a:solidFill>
                  <a:srgbClr val="005E55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400" b="1">
                <a:solidFill>
                  <a:srgbClr val="005E55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5E55"/>
                </a:solidFill>
                <a:latin typeface="DejaVu Sans"/>
                <a:ea typeface="DejaVu Sans"/>
                <a:cs typeface="DejaVu Sans"/>
              </a:rPr>
              <a:t>Galería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2FAF6BA-0612-4CA5-BB1C-D0E96DC206F8}"/>
              </a:ext>
            </a:extLst>
          </p:cNvPr>
          <p:cNvSpPr>
            <a:spLocks noGrp="1"/>
          </p:cNvSpPr>
          <p:nvPr/>
        </p:nvSpPr>
        <p:spPr>
          <a:xfrm>
            <a:off x="666750" y="2524125"/>
            <a:ext cx="5143500" cy="1905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325" b="0">
                <a:solidFill>
                  <a:srgbClr val="182A29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325" b="0">
                <a:solidFill>
                  <a:srgbClr val="182A29"/>
                </a:solidFill>
                <a:latin typeface="DejaVu Sans"/>
                <a:ea typeface="DejaVu Sans"/>
                <a:cs typeface="DejaVu Sans"/>
              </a:defRPr>
            </a:pPr>
            <a:endParaRPr sz="2325" b="0" dirty="0">
              <a:solidFill>
                <a:srgbClr val="182A29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03030CB-3205-4CD6-9D73-C40DA4B27CE7}"/>
              </a:ext>
            </a:extLst>
          </p:cNvPr>
          <p:cNvSpPr>
            <a:spLocks noGrp="1"/>
          </p:cNvSpPr>
          <p:nvPr/>
        </p:nvSpPr>
        <p:spPr>
          <a:xfrm>
            <a:off x="6572250" y="1714500"/>
            <a:ext cx="476250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1">
                <a:solidFill>
                  <a:srgbClr val="005E55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400" b="1">
                <a:solidFill>
                  <a:srgbClr val="005E55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5E55"/>
                </a:solidFill>
                <a:latin typeface="DejaVu Sans"/>
                <a:ea typeface="DejaVu Sans"/>
                <a:cs typeface="DejaVu Sans"/>
              </a:rPr>
              <a:t>Mapa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4AA879E-B8EA-4A47-91A8-9603072D62BD}"/>
              </a:ext>
            </a:extLst>
          </p:cNvPr>
          <p:cNvSpPr>
            <a:spLocks noGrp="1"/>
          </p:cNvSpPr>
          <p:nvPr/>
        </p:nvSpPr>
        <p:spPr>
          <a:xfrm>
            <a:off x="6572250" y="2524125"/>
            <a:ext cx="4857750" cy="1905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325" b="0">
                <a:solidFill>
                  <a:srgbClr val="182A29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325" b="0">
                <a:solidFill>
                  <a:srgbClr val="182A29"/>
                </a:solidFill>
                <a:latin typeface="DejaVu Sans"/>
                <a:ea typeface="DejaVu Sans"/>
                <a:cs typeface="DejaVu Sans"/>
              </a:defRPr>
            </a:pPr>
            <a:endParaRPr sz="2325" b="0" dirty="0">
              <a:solidFill>
                <a:srgbClr val="182A29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984D747-FFF4-4CE5-8DB7-76F40414A52F}"/>
              </a:ext>
            </a:extLst>
          </p:cNvPr>
          <p:cNvSpPr>
            <a:spLocks noGrp="1"/>
          </p:cNvSpPr>
          <p:nvPr/>
        </p:nvSpPr>
        <p:spPr>
          <a:xfrm>
            <a:off x="666750" y="5000625"/>
            <a:ext cx="10763250" cy="1000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506360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950" b="0">
                <a:solidFill>
                  <a:srgbClr val="506360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 dirty="0">
                <a:solidFill>
                  <a:srgbClr val="506360"/>
                </a:solidFill>
                <a:latin typeface="DejaVu Sans"/>
                <a:ea typeface="DejaVu Sans"/>
                <a:cs typeface="DejaVu Sans"/>
              </a:rPr>
              <a:t>.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943B859F-0EB0-4649-BB2B-DDF56C145C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2238375"/>
            <a:ext cx="3407367" cy="4044954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72D2D39B-3E12-44CA-8EF3-E9943F9A2D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" y="2406648"/>
            <a:ext cx="3620630" cy="4044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248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EAE2AE66-BFA0-42BD-9DD4-58B2378466B1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04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182A29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3300" b="1">
                <a:solidFill>
                  <a:srgbClr val="182A2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 dirty="0">
                <a:solidFill>
                  <a:srgbClr val="182A29"/>
                </a:solidFill>
                <a:latin typeface="DejaVu Sans"/>
                <a:ea typeface="DejaVu Sans"/>
                <a:cs typeface="DejaVu Sans"/>
              </a:rPr>
              <a:t>Código de intents </a:t>
            </a:r>
            <a:r>
              <a:rPr sz="3300" b="1" dirty="0" err="1">
                <a:solidFill>
                  <a:srgbClr val="182A29"/>
                </a:solidFill>
                <a:latin typeface="DejaVu Sans"/>
                <a:ea typeface="DejaVu Sans"/>
                <a:cs typeface="DejaVu Sans"/>
              </a:rPr>
              <a:t>explícitos</a:t>
            </a:r>
            <a:r>
              <a:rPr sz="3300" b="1" dirty="0">
                <a:solidFill>
                  <a:srgbClr val="182A29"/>
                </a:solidFill>
                <a:latin typeface="DejaVu Sans"/>
                <a:ea typeface="DejaVu Sans"/>
                <a:cs typeface="DejaVu Sans"/>
              </a:rPr>
              <a:t> e </a:t>
            </a:r>
            <a:r>
              <a:rPr sz="3300" b="1" dirty="0" err="1">
                <a:solidFill>
                  <a:srgbClr val="182A29"/>
                </a:solidFill>
                <a:latin typeface="DejaVu Sans"/>
                <a:ea typeface="DejaVu Sans"/>
                <a:cs typeface="DejaVu Sans"/>
              </a:rPr>
              <a:t>implícitos</a:t>
            </a:r>
            <a:endParaRPr sz="3300" b="1" dirty="0">
              <a:solidFill>
                <a:srgbClr val="182A29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AECEAF6-7116-4A5D-8BE1-16DAB08AF5D0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06360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350" b="0">
                <a:solidFill>
                  <a:srgbClr val="50636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06360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8414058-ED09-4D1C-B568-E60375ED853D}"/>
              </a:ext>
            </a:extLst>
          </p:cNvPr>
          <p:cNvSpPr>
            <a:spLocks noGrp="1"/>
          </p:cNvSpPr>
          <p:nvPr/>
        </p:nvSpPr>
        <p:spPr>
          <a:xfrm>
            <a:off x="666750" y="1571625"/>
            <a:ext cx="108585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005E55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1">
                <a:solidFill>
                  <a:srgbClr val="005E5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5E55"/>
                </a:solidFill>
                <a:latin typeface="DejaVu Sans"/>
                <a:ea typeface="DejaVu Sans"/>
                <a:cs typeface="DejaVu Sans"/>
              </a:rPr>
              <a:t>Explícito: destino conocido y datos extras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E9CEDFC-C2B0-4013-910A-F49EAC58E3CC}"/>
              </a:ext>
            </a:extLst>
          </p:cNvPr>
          <p:cNvSpPr>
            <a:spLocks noGrp="1"/>
          </p:cNvSpPr>
          <p:nvPr/>
        </p:nvSpPr>
        <p:spPr>
          <a:xfrm>
            <a:off x="666750" y="2143125"/>
            <a:ext cx="10763250" cy="1714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182A29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>
            <a:pPr>
              <a:defRPr sz="1950" b="0">
                <a:solidFill>
                  <a:srgbClr val="182A29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0">
                <a:solidFill>
                  <a:srgbClr val="182A29"/>
                </a:solidFill>
                <a:latin typeface="DejaVu Sans Mono"/>
                <a:ea typeface="DejaVu Sans Mono"/>
                <a:cs typeface="DejaVu Sans Mono"/>
              </a:rPr>
              <a:t>Intent intent = new Intent(MainActivity.this,</a:t>
            </a:r>
          </a:p>
          <a:p>
            <a:pPr>
              <a:defRPr sz="1950" b="0">
                <a:solidFill>
                  <a:srgbClr val="182A29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0">
                <a:solidFill>
                  <a:srgbClr val="182A29"/>
                </a:solidFill>
                <a:latin typeface="DejaVu Sans Mono"/>
                <a:ea typeface="DejaVu Sans Mono"/>
                <a:cs typeface="DejaVu Sans Mono"/>
              </a:rPr>
              <a:t>    SegundaActivity.class);</a:t>
            </a:r>
          </a:p>
          <a:p>
            <a:pPr>
              <a:defRPr sz="1950" b="0">
                <a:solidFill>
                  <a:srgbClr val="182A29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0">
                <a:solidFill>
                  <a:srgbClr val="182A29"/>
                </a:solidFill>
                <a:latin typeface="DejaVu Sans Mono"/>
                <a:ea typeface="DejaVu Sans Mono"/>
                <a:cs typeface="DejaVu Sans Mono"/>
              </a:rPr>
              <a:t>intent.putExtra("nombre", nombre);</a:t>
            </a:r>
          </a:p>
          <a:p>
            <a:pPr>
              <a:defRPr sz="1950" b="0">
                <a:solidFill>
                  <a:srgbClr val="182A29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0">
                <a:solidFill>
                  <a:srgbClr val="182A29"/>
                </a:solidFill>
                <a:latin typeface="DejaVu Sans Mono"/>
                <a:ea typeface="DejaVu Sans Mono"/>
                <a:cs typeface="DejaVu Sans Mono"/>
              </a:rPr>
              <a:t>startActivity(intent);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E579DEB-7879-42F1-80AE-5B8D3C1E4DA0}"/>
              </a:ext>
            </a:extLst>
          </p:cNvPr>
          <p:cNvSpPr>
            <a:spLocks noGrp="1"/>
          </p:cNvSpPr>
          <p:nvPr/>
        </p:nvSpPr>
        <p:spPr>
          <a:xfrm>
            <a:off x="666750" y="4191000"/>
            <a:ext cx="108585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005E55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1">
                <a:solidFill>
                  <a:srgbClr val="005E5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5E55"/>
                </a:solidFill>
                <a:latin typeface="DejaVu Sans"/>
                <a:ea typeface="DejaVu Sans"/>
                <a:cs typeface="DejaVu Sans"/>
              </a:rPr>
              <a:t>Implícito: acción y URI del número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B60FF33-1F7E-4908-856A-418E1EB2E736}"/>
              </a:ext>
            </a:extLst>
          </p:cNvPr>
          <p:cNvSpPr>
            <a:spLocks noGrp="1"/>
          </p:cNvSpPr>
          <p:nvPr/>
        </p:nvSpPr>
        <p:spPr>
          <a:xfrm>
            <a:off x="666750" y="4762500"/>
            <a:ext cx="10763250" cy="1238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182A29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>
            <a:pPr>
              <a:defRPr sz="1950" b="0">
                <a:solidFill>
                  <a:srgbClr val="182A29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0">
                <a:solidFill>
                  <a:srgbClr val="182A29"/>
                </a:solidFill>
                <a:latin typeface="DejaVu Sans Mono"/>
                <a:ea typeface="DejaVu Sans Mono"/>
                <a:cs typeface="DejaVu Sans Mono"/>
              </a:rPr>
              <a:t>Intent intent = new Intent(Intent.ACTION_DIAL,</a:t>
            </a:r>
          </a:p>
          <a:p>
            <a:pPr>
              <a:defRPr sz="1950" b="0">
                <a:solidFill>
                  <a:srgbClr val="182A29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0">
                <a:solidFill>
                  <a:srgbClr val="182A29"/>
                </a:solidFill>
                <a:latin typeface="DejaVu Sans Mono"/>
                <a:ea typeface="DejaVu Sans Mono"/>
                <a:cs typeface="DejaVu Sans Mono"/>
              </a:rPr>
              <a:t>    Uri.fromParts("tel", telefono, null));</a:t>
            </a:r>
          </a:p>
          <a:p>
            <a:pPr>
              <a:defRPr sz="1950" b="0">
                <a:solidFill>
                  <a:srgbClr val="182A29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0">
                <a:solidFill>
                  <a:srgbClr val="182A29"/>
                </a:solidFill>
                <a:latin typeface="DejaVu Sans Mono"/>
                <a:ea typeface="DejaVu Sans Mono"/>
                <a:cs typeface="DejaVu Sans Mono"/>
              </a:rPr>
              <a:t>abrirSeguro(intent);</a:t>
            </a:r>
          </a:p>
        </p:txBody>
      </p:sp>
    </p:spTree>
    <p:extLst>
      <p:ext uri="{BB962C8B-B14F-4D97-AF65-F5344CB8AC3E}">
        <p14:creationId xmlns:p14="http://schemas.microsoft.com/office/powerpoint/2010/main" val="1144011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94D673F9-C6AD-4F54-932E-41B2476B2C04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04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182A29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3300" b="1">
                <a:solidFill>
                  <a:srgbClr val="182A29"/>
                </a:solidFill>
                <a:latin typeface="DejaVu Sans"/>
                <a:ea typeface="DejaVu Sans"/>
                <a:cs typeface="DejaVu Sans"/>
              </a:defRPr>
            </a:pPr>
            <a:endParaRPr sz="3300" b="1" dirty="0">
              <a:solidFill>
                <a:srgbClr val="182A29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A7191F1-5B55-443D-BFCC-0F063807C0D2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06360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350" b="0">
                <a:solidFill>
                  <a:srgbClr val="50636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06360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399AA7A-3789-4704-9CD7-3FEF213B0965}"/>
              </a:ext>
            </a:extLst>
          </p:cNvPr>
          <p:cNvSpPr>
            <a:spLocks noGrp="1"/>
          </p:cNvSpPr>
          <p:nvPr/>
        </p:nvSpPr>
        <p:spPr>
          <a:xfrm>
            <a:off x="666750" y="1619250"/>
            <a:ext cx="10858500" cy="2190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182A29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>
            <a:pPr>
              <a:defRPr sz="1875" b="0">
                <a:solidFill>
                  <a:srgbClr val="182A29"/>
                </a:solidFill>
                <a:latin typeface="DejaVu Sans Mono"/>
                <a:ea typeface="DejaVu Sans Mono"/>
                <a:cs typeface="DejaVu Sans Mono"/>
              </a:defRPr>
            </a:pPr>
            <a:endParaRPr sz="1875" b="0" dirty="0">
              <a:solidFill>
                <a:srgbClr val="182A29"/>
              </a:solidFill>
              <a:latin typeface="DejaVu Sans Mono"/>
              <a:ea typeface="DejaVu Sans Mono"/>
              <a:cs typeface="DejaVu Sans Mono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57905A5-D605-49C6-8FFC-CEECF7243761}"/>
              </a:ext>
            </a:extLst>
          </p:cNvPr>
          <p:cNvSpPr>
            <a:spLocks noGrp="1"/>
          </p:cNvSpPr>
          <p:nvPr/>
        </p:nvSpPr>
        <p:spPr>
          <a:xfrm>
            <a:off x="666750" y="4191000"/>
            <a:ext cx="10858500" cy="1095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005E55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175" b="1">
                <a:solidFill>
                  <a:srgbClr val="005E55"/>
                </a:solidFill>
                <a:latin typeface="DejaVu Sans"/>
                <a:ea typeface="DejaVu Sans"/>
                <a:cs typeface="DejaVu Sans"/>
              </a:defRPr>
            </a:pPr>
            <a:endParaRPr sz="2175" b="1" dirty="0">
              <a:solidFill>
                <a:srgbClr val="005E55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9D42295-14F6-4C67-A56D-301CDB3B703E}"/>
              </a:ext>
            </a:extLst>
          </p:cNvPr>
          <p:cNvSpPr>
            <a:spLocks noGrp="1"/>
          </p:cNvSpPr>
          <p:nvPr/>
        </p:nvSpPr>
        <p:spPr>
          <a:xfrm>
            <a:off x="666750" y="5605682"/>
            <a:ext cx="1076325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506360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875" b="0">
                <a:solidFill>
                  <a:srgbClr val="506360"/>
                </a:solidFill>
                <a:latin typeface="DejaVu Sans"/>
                <a:ea typeface="DejaVu Sans"/>
                <a:cs typeface="DejaVu Sans"/>
              </a:defRPr>
            </a:pPr>
            <a:endParaRPr sz="1875" b="0" dirty="0">
              <a:solidFill>
                <a:srgbClr val="506360"/>
              </a:solidFill>
              <a:latin typeface="DejaVu Sans"/>
              <a:ea typeface="DejaVu Sans"/>
              <a:cs typeface="DejaVu Sans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328461D-2F7A-45A6-8CA0-238F5455A5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968" y="751782"/>
            <a:ext cx="4586315" cy="5610918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55CC2762-D51F-495C-AA9C-27D625EB56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0315" y="457200"/>
            <a:ext cx="4999153" cy="5895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6501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1A054D40-A117-4D8C-BF26-0224B8DBD880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04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182A29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3300" b="1">
                <a:solidFill>
                  <a:srgbClr val="182A2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82A29"/>
                </a:solidFill>
                <a:latin typeface="DejaVu Sans"/>
                <a:ea typeface="DejaVu Sans"/>
                <a:cs typeface="DejaVu Sans"/>
              </a:rPr>
              <a:t>Validaciones y lecciones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ABF77E9-6F88-402E-B729-44F8402AE6D0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06360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350" b="0">
                <a:solidFill>
                  <a:srgbClr val="50636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06360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EEC84C3-E370-4A89-9901-9DB4B420D840}"/>
              </a:ext>
            </a:extLst>
          </p:cNvPr>
          <p:cNvSpPr>
            <a:spLocks noGrp="1"/>
          </p:cNvSpPr>
          <p:nvPr/>
        </p:nvSpPr>
        <p:spPr>
          <a:xfrm>
            <a:off x="666750" y="1619250"/>
            <a:ext cx="104775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325" b="1">
                <a:solidFill>
                  <a:srgbClr val="005E55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325" b="1">
                <a:solidFill>
                  <a:srgbClr val="005E55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5E55"/>
                </a:solidFill>
                <a:latin typeface="DejaVu Sans"/>
                <a:ea typeface="DejaVu Sans"/>
                <a:cs typeface="DejaVu Sans"/>
              </a:rPr>
              <a:t>Entradas válidas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18ECD8E-8592-43C6-A44E-47DC56255670}"/>
              </a:ext>
            </a:extLst>
          </p:cNvPr>
          <p:cNvSpPr>
            <a:spLocks noGrp="1"/>
          </p:cNvSpPr>
          <p:nvPr/>
        </p:nvSpPr>
        <p:spPr>
          <a:xfrm>
            <a:off x="666750" y="2190750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182A29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250" b="0">
                <a:solidFill>
                  <a:srgbClr val="182A2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 dirty="0" err="1">
                <a:solidFill>
                  <a:srgbClr val="182A29"/>
                </a:solidFill>
                <a:latin typeface="DejaVu Sans"/>
                <a:ea typeface="DejaVu Sans"/>
                <a:cs typeface="DejaVu Sans"/>
              </a:rPr>
              <a:t>Nombre</a:t>
            </a:r>
            <a:r>
              <a:rPr sz="2250" b="0" dirty="0">
                <a:solidFill>
                  <a:srgbClr val="182A29"/>
                </a:solidFill>
                <a:latin typeface="DejaVu Sans"/>
                <a:ea typeface="DejaVu Sans"/>
                <a:cs typeface="DejaVu Sans"/>
              </a:rPr>
              <a:t>, </a:t>
            </a:r>
            <a:r>
              <a:rPr sz="2250" b="0" dirty="0" err="1">
                <a:solidFill>
                  <a:srgbClr val="182A29"/>
                </a:solidFill>
                <a:latin typeface="DejaVu Sans"/>
                <a:ea typeface="DejaVu Sans"/>
                <a:cs typeface="DejaVu Sans"/>
              </a:rPr>
              <a:t>dirección</a:t>
            </a:r>
            <a:r>
              <a:rPr sz="2250" b="0" dirty="0">
                <a:solidFill>
                  <a:srgbClr val="182A29"/>
                </a:solidFill>
                <a:latin typeface="DejaVu Sans"/>
                <a:ea typeface="DejaVu Sans"/>
                <a:cs typeface="DejaVu Sans"/>
              </a:rPr>
              <a:t> HTTPS, </a:t>
            </a:r>
            <a:r>
              <a:rPr sz="2250" b="0" dirty="0" err="1">
                <a:solidFill>
                  <a:srgbClr val="182A29"/>
                </a:solidFill>
                <a:latin typeface="DejaVu Sans"/>
                <a:ea typeface="DejaVu Sans"/>
                <a:cs typeface="DejaVu Sans"/>
              </a:rPr>
              <a:t>teléfono</a:t>
            </a:r>
            <a:r>
              <a:rPr sz="2250" b="0" dirty="0">
                <a:solidFill>
                  <a:srgbClr val="182A29"/>
                </a:solidFill>
                <a:latin typeface="DejaVu Sans"/>
                <a:ea typeface="DejaVu Sans"/>
                <a:cs typeface="DejaVu Sans"/>
              </a:rPr>
              <a:t> y </a:t>
            </a:r>
            <a:r>
              <a:rPr sz="2250" b="0" dirty="0" err="1">
                <a:solidFill>
                  <a:srgbClr val="182A29"/>
                </a:solidFill>
                <a:latin typeface="DejaVu Sans"/>
                <a:ea typeface="DejaVu Sans"/>
                <a:cs typeface="DejaVu Sans"/>
              </a:rPr>
              <a:t>correo</a:t>
            </a:r>
            <a:endParaRPr sz="2250" b="0" dirty="0">
              <a:solidFill>
                <a:srgbClr val="182A29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7C7A8FF-0456-44A0-B3B5-18D492F93EED}"/>
              </a:ext>
            </a:extLst>
          </p:cNvPr>
          <p:cNvSpPr>
            <a:spLocks noGrp="1"/>
          </p:cNvSpPr>
          <p:nvPr/>
        </p:nvSpPr>
        <p:spPr>
          <a:xfrm>
            <a:off x="666750" y="3143250"/>
            <a:ext cx="104775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325" b="1">
                <a:solidFill>
                  <a:srgbClr val="005E55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325" b="1">
                <a:solidFill>
                  <a:srgbClr val="005E55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5E55"/>
                </a:solidFill>
                <a:latin typeface="DejaVu Sans"/>
                <a:ea typeface="DejaVu Sans"/>
                <a:cs typeface="DejaVu Sans"/>
              </a:rPr>
              <a:t>Permisos y resultados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C108AEA-B269-4993-A570-DBEA53796495}"/>
              </a:ext>
            </a:extLst>
          </p:cNvPr>
          <p:cNvSpPr>
            <a:spLocks noGrp="1"/>
          </p:cNvSpPr>
          <p:nvPr/>
        </p:nvSpPr>
        <p:spPr>
          <a:xfrm>
            <a:off x="666750" y="3714750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182A29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250" b="0">
                <a:solidFill>
                  <a:srgbClr val="182A2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 dirty="0" err="1">
                <a:solidFill>
                  <a:srgbClr val="182A29"/>
                </a:solidFill>
                <a:latin typeface="DejaVu Sans"/>
                <a:ea typeface="DejaVu Sans"/>
                <a:cs typeface="DejaVu Sans"/>
              </a:rPr>
              <a:t>Permiso</a:t>
            </a:r>
            <a:r>
              <a:rPr sz="2250" b="0" dirty="0">
                <a:solidFill>
                  <a:srgbClr val="182A29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250" b="0" dirty="0" err="1">
                <a:solidFill>
                  <a:srgbClr val="182A29"/>
                </a:solidFill>
                <a:latin typeface="DejaVu Sans"/>
                <a:ea typeface="DejaVu Sans"/>
                <a:cs typeface="DejaVu Sans"/>
              </a:rPr>
              <a:t>rechazado</a:t>
            </a:r>
            <a:r>
              <a:rPr sz="2250" b="0" dirty="0">
                <a:solidFill>
                  <a:srgbClr val="182A29"/>
                </a:solidFill>
                <a:latin typeface="DejaVu Sans"/>
                <a:ea typeface="DejaVu Sans"/>
                <a:cs typeface="DejaVu Sans"/>
              </a:rPr>
              <a:t>, app externa </a:t>
            </a:r>
            <a:r>
              <a:rPr sz="2250" b="0" dirty="0" err="1">
                <a:solidFill>
                  <a:srgbClr val="182A29"/>
                </a:solidFill>
                <a:latin typeface="DejaVu Sans"/>
                <a:ea typeface="DejaVu Sans"/>
                <a:cs typeface="DejaVu Sans"/>
              </a:rPr>
              <a:t>ausente</a:t>
            </a:r>
            <a:endParaRPr sz="2250" b="0" dirty="0">
              <a:solidFill>
                <a:srgbClr val="182A29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65C0F56-6D17-443A-9506-4DF00DB4C0B3}"/>
              </a:ext>
            </a:extLst>
          </p:cNvPr>
          <p:cNvSpPr>
            <a:spLocks noGrp="1"/>
          </p:cNvSpPr>
          <p:nvPr/>
        </p:nvSpPr>
        <p:spPr>
          <a:xfrm>
            <a:off x="666750" y="4667250"/>
            <a:ext cx="104775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325" b="1">
                <a:solidFill>
                  <a:srgbClr val="005E55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325" b="1">
                <a:solidFill>
                  <a:srgbClr val="005E55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5E55"/>
                </a:solidFill>
                <a:latin typeface="DejaVu Sans"/>
                <a:ea typeface="DejaVu Sans"/>
                <a:cs typeface="DejaVu Sans"/>
              </a:rPr>
              <a:t>Lecciones y mejoras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17574B0-86E3-4689-8968-8B1D592CE50A}"/>
              </a:ext>
            </a:extLst>
          </p:cNvPr>
          <p:cNvSpPr>
            <a:spLocks noGrp="1"/>
          </p:cNvSpPr>
          <p:nvPr/>
        </p:nvSpPr>
        <p:spPr>
          <a:xfrm>
            <a:off x="666750" y="5238750"/>
            <a:ext cx="106680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182A29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100" b="0">
                <a:solidFill>
                  <a:srgbClr val="182A29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 dirty="0" err="1">
                <a:solidFill>
                  <a:srgbClr val="182A29"/>
                </a:solidFill>
                <a:latin typeface="DejaVu Sans"/>
                <a:ea typeface="DejaVu Sans"/>
                <a:cs typeface="DejaVu Sans"/>
              </a:rPr>
              <a:t>Cuidar</a:t>
            </a:r>
            <a:r>
              <a:rPr sz="2100" b="0" dirty="0">
                <a:solidFill>
                  <a:srgbClr val="182A29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100" b="0" dirty="0" err="1">
                <a:solidFill>
                  <a:srgbClr val="182A29"/>
                </a:solidFill>
                <a:latin typeface="DejaVu Sans"/>
                <a:ea typeface="DejaVu Sans"/>
                <a:cs typeface="DejaVu Sans"/>
              </a:rPr>
              <a:t>el</a:t>
            </a:r>
            <a:r>
              <a:rPr sz="2100" b="0" dirty="0">
                <a:solidFill>
                  <a:srgbClr val="182A29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100" b="0" dirty="0" err="1">
                <a:solidFill>
                  <a:srgbClr val="182A29"/>
                </a:solidFill>
                <a:latin typeface="DejaVu Sans"/>
                <a:ea typeface="DejaVu Sans"/>
                <a:cs typeface="DejaVu Sans"/>
              </a:rPr>
              <a:t>ciclo</a:t>
            </a:r>
            <a:r>
              <a:rPr sz="2100" b="0" dirty="0">
                <a:solidFill>
                  <a:srgbClr val="182A29"/>
                </a:solidFill>
                <a:latin typeface="DejaVu Sans"/>
                <a:ea typeface="DejaVu Sans"/>
                <a:cs typeface="DejaVu Sans"/>
              </a:rPr>
              <a:t> de </a:t>
            </a:r>
            <a:r>
              <a:rPr sz="2100" b="0" dirty="0" err="1">
                <a:solidFill>
                  <a:srgbClr val="182A29"/>
                </a:solidFill>
                <a:latin typeface="DejaVu Sans"/>
                <a:ea typeface="DejaVu Sans"/>
                <a:cs typeface="DejaVu Sans"/>
              </a:rPr>
              <a:t>vida</a:t>
            </a:r>
            <a:r>
              <a:rPr sz="2100" b="0" dirty="0">
                <a:solidFill>
                  <a:srgbClr val="182A29"/>
                </a:solidFill>
                <a:latin typeface="DejaVu Sans"/>
                <a:ea typeface="DejaVu Sans"/>
                <a:cs typeface="DejaVu Sans"/>
              </a:rPr>
              <a:t> y </a:t>
            </a:r>
            <a:r>
              <a:rPr sz="2100" b="0" dirty="0" err="1">
                <a:solidFill>
                  <a:srgbClr val="182A29"/>
                </a:solidFill>
                <a:latin typeface="DejaVu Sans"/>
                <a:ea typeface="DejaVu Sans"/>
                <a:cs typeface="DejaVu Sans"/>
              </a:rPr>
              <a:t>mantener</a:t>
            </a:r>
            <a:r>
              <a:rPr sz="2100" b="0" dirty="0">
                <a:solidFill>
                  <a:srgbClr val="182A29"/>
                </a:solidFill>
                <a:latin typeface="DejaVu Sans"/>
                <a:ea typeface="DejaVu Sans"/>
                <a:cs typeface="DejaVu Sans"/>
              </a:rPr>
              <a:t> la </a:t>
            </a:r>
            <a:r>
              <a:rPr sz="2100" b="0" dirty="0" err="1">
                <a:solidFill>
                  <a:srgbClr val="182A29"/>
                </a:solidFill>
                <a:latin typeface="DejaVu Sans"/>
                <a:ea typeface="DejaVu Sans"/>
                <a:cs typeface="DejaVu Sans"/>
              </a:rPr>
              <a:t>interfaz</a:t>
            </a:r>
            <a:r>
              <a:rPr sz="2100" b="0" dirty="0">
                <a:solidFill>
                  <a:srgbClr val="182A29"/>
                </a:solidFill>
                <a:latin typeface="DejaVu Sans"/>
                <a:ea typeface="DejaVu Sans"/>
                <a:cs typeface="DejaVu Sans"/>
              </a:rPr>
              <a:t> disponible.</a:t>
            </a:r>
          </a:p>
          <a:p>
            <a:pPr>
              <a:defRPr sz="2100" b="0">
                <a:solidFill>
                  <a:srgbClr val="182A29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 dirty="0" err="1">
                <a:solidFill>
                  <a:srgbClr val="182A29"/>
                </a:solidFill>
                <a:latin typeface="DejaVu Sans"/>
                <a:ea typeface="DejaVu Sans"/>
                <a:cs typeface="DejaVu Sans"/>
              </a:rPr>
              <a:t>Mejora</a:t>
            </a:r>
            <a:r>
              <a:rPr sz="2100" b="0" dirty="0">
                <a:solidFill>
                  <a:srgbClr val="182A29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100" b="0" dirty="0" err="1">
                <a:solidFill>
                  <a:srgbClr val="182A29"/>
                </a:solidFill>
                <a:latin typeface="DejaVu Sans"/>
                <a:ea typeface="DejaVu Sans"/>
                <a:cs typeface="DejaVu Sans"/>
              </a:rPr>
              <a:t>futura</a:t>
            </a:r>
            <a:r>
              <a:rPr sz="2100" b="0" dirty="0">
                <a:solidFill>
                  <a:srgbClr val="182A29"/>
                </a:solidFill>
                <a:latin typeface="DejaVu Sans"/>
                <a:ea typeface="DejaVu Sans"/>
                <a:cs typeface="DejaVu Sans"/>
              </a:rPr>
              <a:t>: </a:t>
            </a:r>
            <a:r>
              <a:rPr sz="2100" b="0" dirty="0" err="1">
                <a:solidFill>
                  <a:srgbClr val="182A29"/>
                </a:solidFill>
                <a:latin typeface="DejaVu Sans"/>
                <a:ea typeface="DejaVu Sans"/>
                <a:cs typeface="DejaVu Sans"/>
              </a:rPr>
              <a:t>guardar</a:t>
            </a:r>
            <a:r>
              <a:rPr sz="2100" b="0" dirty="0">
                <a:solidFill>
                  <a:srgbClr val="182A29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100" b="0" dirty="0" err="1">
                <a:solidFill>
                  <a:srgbClr val="182A29"/>
                </a:solidFill>
                <a:latin typeface="DejaVu Sans"/>
                <a:ea typeface="DejaVu Sans"/>
                <a:cs typeface="DejaVu Sans"/>
              </a:rPr>
              <a:t>imágenes</a:t>
            </a:r>
            <a:r>
              <a:rPr sz="2100" b="0" dirty="0">
                <a:solidFill>
                  <a:srgbClr val="182A29"/>
                </a:solidFill>
                <a:latin typeface="DejaVu Sans"/>
                <a:ea typeface="DejaVu Sans"/>
                <a:cs typeface="DejaVu Sans"/>
              </a:rPr>
              <a:t> de forma </a:t>
            </a:r>
            <a:r>
              <a:rPr sz="2100" b="0" dirty="0" err="1">
                <a:solidFill>
                  <a:srgbClr val="182A29"/>
                </a:solidFill>
                <a:latin typeface="DejaVu Sans"/>
                <a:ea typeface="DejaVu Sans"/>
                <a:cs typeface="DejaVu Sans"/>
              </a:rPr>
              <a:t>permanente</a:t>
            </a:r>
            <a:r>
              <a:rPr sz="2100" b="0" dirty="0">
                <a:solidFill>
                  <a:srgbClr val="182A29"/>
                </a:solidFill>
                <a:latin typeface="DejaVu Sans"/>
                <a:ea typeface="DejaVu Sans"/>
                <a:cs typeface="DejaVu San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5496110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672</Words>
  <Application>Microsoft Office PowerPoint</Application>
  <DocSecurity>0</DocSecurity>
  <PresentationFormat>Panorámica</PresentationFormat>
  <Paragraphs>79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Aptos</vt:lpstr>
      <vt:lpstr>DejaVu Sans</vt:lpstr>
      <vt:lpstr>DejaVu Sans Mono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Christian alexander Rioseco Carrasco</cp:lastModifiedBy>
  <cp:revision>4</cp:revision>
  <dcterms:created xsi:type="dcterms:W3CDTF">2026-10-09T19:36:39Z</dcterms:created>
  <dcterms:modified xsi:type="dcterms:W3CDTF">2026-10-09T22:22:30Z</dcterms:modified>
</cp:coreProperties>
</file>